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5023" y="770891"/>
            <a:ext cx="28363" cy="2836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03441" y="2038357"/>
            <a:ext cx="23146" cy="2314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8556" y="1944717"/>
            <a:ext cx="17144" cy="1714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26427" y="504272"/>
            <a:ext cx="18118" cy="1811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98053" y="2996184"/>
            <a:ext cx="18723" cy="1872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72281" y="2339729"/>
            <a:ext cx="33790" cy="337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72429" y="1580128"/>
            <a:ext cx="34312" cy="3431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3063" y="3100260"/>
            <a:ext cx="21755" cy="2175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26723" y="662073"/>
            <a:ext cx="22100" cy="221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15544" y="869242"/>
            <a:ext cx="27095" cy="2709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4596" y="1500193"/>
            <a:ext cx="26476" cy="2647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73448" y="470517"/>
            <a:ext cx="20225" cy="202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93576" y="1681885"/>
            <a:ext cx="22204" cy="2220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98728" y="1766130"/>
            <a:ext cx="21941" cy="2194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47934" y="2575297"/>
            <a:ext cx="20923" cy="2092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4100" y="2003182"/>
            <a:ext cx="32463" cy="3246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46056" y="1222165"/>
            <a:ext cx="34384" cy="3438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5301" y="1650713"/>
            <a:ext cx="30305" cy="3030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50753" y="1883908"/>
            <a:ext cx="17176" cy="1717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55696" y="2791164"/>
            <a:ext cx="26938" cy="2693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00065" y="1307126"/>
            <a:ext cx="29174" cy="2917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26112" y="2183242"/>
            <a:ext cx="24802" cy="2480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9666" y="3384059"/>
            <a:ext cx="25129" cy="2512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43062" y="474034"/>
            <a:ext cx="29288" cy="2928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90137" y="3543432"/>
            <a:ext cx="31490" cy="314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3036" y="1544283"/>
            <a:ext cx="28687" cy="28687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48387" y="1794147"/>
            <a:ext cx="19532" cy="1953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2286" y="468388"/>
            <a:ext cx="30508" cy="3050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80353" y="1089428"/>
            <a:ext cx="23608" cy="2360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87456" y="539580"/>
            <a:ext cx="24673" cy="2467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86426" y="3182278"/>
            <a:ext cx="31442" cy="3144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64333" y="1190837"/>
            <a:ext cx="24054" cy="2405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93645" y="3184941"/>
            <a:ext cx="33974" cy="3397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47447" y="854400"/>
            <a:ext cx="20701" cy="2070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3672" y="1870739"/>
            <a:ext cx="27233" cy="2723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95108" y="287795"/>
            <a:ext cx="24120" cy="2412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26234" y="2138624"/>
            <a:ext cx="33889" cy="3388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24957" y="1971235"/>
            <a:ext cx="27753" cy="2775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80519" y="452055"/>
            <a:ext cx="32909" cy="3290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03133" y="3153077"/>
            <a:ext cx="31050" cy="3105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98130" y="1587694"/>
            <a:ext cx="18352" cy="1835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50220" y="479229"/>
            <a:ext cx="17690" cy="176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27276" y="808596"/>
            <a:ext cx="22678" cy="2267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941695" y="275087"/>
            <a:ext cx="19225" cy="192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3688" y="1471265"/>
            <a:ext cx="16925" cy="169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96504" y="2295736"/>
            <a:ext cx="19175" cy="1917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562499" y="1417870"/>
            <a:ext cx="23119" cy="2311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60151" y="3068884"/>
            <a:ext cx="34621" cy="3462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26982" y="1867026"/>
            <a:ext cx="18029" cy="1802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95937" y="1402222"/>
            <a:ext cx="21301" cy="2130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355118" y="805750"/>
            <a:ext cx="16881" cy="1688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734816" y="2013258"/>
            <a:ext cx="19140" cy="1914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66941" y="363339"/>
            <a:ext cx="26117" cy="26117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820361" y="3116247"/>
            <a:ext cx="29191" cy="2919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90036" y="1481437"/>
            <a:ext cx="19514" cy="1951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178164" y="2027528"/>
            <a:ext cx="30706" cy="3070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803155" y="1008537"/>
            <a:ext cx="31300" cy="313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840335" y="3081037"/>
            <a:ext cx="31200" cy="312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322404" y="2709863"/>
            <a:ext cx="20605" cy="2060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387558" y="1444775"/>
            <a:ext cx="16989" cy="1698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598932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1298448"/>
            <a:ext cx="640080" cy="5080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03504" y="603504"/>
            <a:ext cx="256032" cy="182880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8368" y="676656"/>
            <a:ext cx="34290" cy="34290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1520" y="676656"/>
            <a:ext cx="34290" cy="34290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04672" y="676656"/>
            <a:ext cx="34290" cy="34290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9848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0ADBF"/>
                </a:solidFill>
                <a:latin typeface="Segoe UI"/>
              </a:rPr>
              <a:t>SENTIMENT LAB  ·  NLP CAPSTONE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A7FF"/>
                </a:solidFill>
                <a:latin typeface="Segoe UI"/>
              </a:rPr>
              <a:t>ĐỒ ÁN CUỐI KỲ— MÔN XỬ LÝ NGÔN NGỮ TỰ NHIÊN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874519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300" b="1">
                <a:solidFill>
                  <a:srgbClr val="F1F5F9"/>
                </a:solidFill>
                <a:latin typeface="Segoe UI"/>
              </a:rPr>
              <a:t>PHÂN TÍCH CẢM XÚC ĐÁNH GIÁ NHÂN VIÊN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300" b="1">
                <a:solidFill>
                  <a:srgbClr val="F1F5F9"/>
                </a:solidFill>
                <a:latin typeface="Segoe UI"/>
              </a:rPr>
              <a:t>NGÀNH CÔNG NGHỆ THÔNG TIN TRÊN ITVIEC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3200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0ADBF"/>
                </a:solidFill>
                <a:latin typeface="Segoe UI"/>
              </a:rPr>
              <a:t>Machine Learning truyền thống · Stacking Ensemble · Deep Learning ViSoBERT · Explainable AI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3794760"/>
            <a:ext cx="7242048" cy="14173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3941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A7FF"/>
                </a:solidFill>
                <a:latin typeface="Segoe UI"/>
              </a:rPr>
              <a:t>GIẢNG VIÊN HƯỚNG DẪN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42702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1F5F9"/>
                </a:solidFill>
                <a:latin typeface="Segoe UI"/>
              </a:rPr>
              <a:t>Thầy Đặng Văn Thìn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46908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Khoa Khoa học Máy tính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51959" y="39410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0E3A4"/>
                </a:solidFill>
                <a:latin typeface="Segoe UI"/>
              </a:rPr>
              <a:t>NHÓM THỰC HIỆN — NHÓM 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51959" y="423367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A0ADBF"/>
                </a:solidFill>
                <a:latin typeface="Segoe UI"/>
              </a:rPr>
              <a:t>Trần Hoàng Hôn (26410046) · Trưởng nhóm / Tech Lead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51959" y="446227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A0ADBF"/>
                </a:solidFill>
                <a:latin typeface="Segoe UI"/>
              </a:rPr>
              <a:t>Nguyễn Duy Khang (26410055) · ML Specialist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51959" y="469087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A0ADBF"/>
                </a:solidFill>
                <a:latin typeface="Segoe UI"/>
              </a:rPr>
              <a:t>Vũ Văn Duy (26410031) · Data &amp; Research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51959" y="491947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A0ADBF"/>
                </a:solidFill>
                <a:latin typeface="Segoe UI"/>
              </a:rPr>
              <a:t>Phạm Thành Trung (26410141) · UI/UX &amp; Demo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66760" y="37947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3920" y="38679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8.417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20" y="42219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review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21240" y="37947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58400" y="38679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42219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mô hình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366760" y="45948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03920" y="46680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D35E"/>
                </a:solidFill>
                <a:latin typeface="Segoe UI"/>
              </a:rPr>
              <a:t>0.5619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0" y="50220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CV Macro F1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21240" y="45948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0" y="46680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994F"/>
                </a:solidFill>
                <a:latin typeface="Segoe UI"/>
              </a:rPr>
              <a:t>55/55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0" y="50220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test passed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5394960"/>
            <a:ext cx="10789920" cy="804672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54681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AA7FF"/>
                </a:solidFill>
                <a:latin typeface="Segoe UI"/>
              </a:rPr>
              <a:t>KHO LƯU TRỮ MÃ NGUỒN GITHUB &amp; DEMO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571500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50E3A4"/>
                </a:solidFill>
                <a:latin typeface="Segoe UI"/>
              </a:rPr>
              <a:t>https://github.com/mrkiss-it/NLP-Sentiment-Analysis-ITviec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1 · ĐẶT VẤN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Bối cảnh &amp; Thách thức dữ liệu đánh giá ITviec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02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5778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5778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Bối cảnh &amp; Mục tiêu nghiên cứu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17170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10312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Review ứng viên/nhân viên trên ITviec </a:t>
            </a:r>
            <a:r>
              <a:rPr sz="1350" b="0">
                <a:solidFill>
                  <a:srgbClr val="F1F5F9"/>
                </a:solidFill>
                <a:latin typeface="Segoe UI"/>
              </a:rPr>
              <a:t>là nguồn tín hiệu quan trọng phản ánh văn hoá, đãi ngộ và môi trường làm việc thực tế của doanh nghiệp IT.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17754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10896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Mục tiêu: </a:t>
            </a:r>
            <a:r>
              <a:rPr sz="1350" b="0">
                <a:solidFill>
                  <a:srgbClr val="F1F5F9"/>
                </a:solidFill>
                <a:latin typeface="Segoe UI"/>
              </a:rPr>
              <a:t>tự động phân loại cảm xúc 3 lớp (Tích cực / Trung tính / Tiêu cực) từ văn bản đánh giá tiếng Việt.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90906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84048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So sánh có hệ thống </a:t>
            </a:r>
            <a:r>
              <a:rPr sz="1350" b="0">
                <a:solidFill>
                  <a:srgbClr val="F1F5F9"/>
                </a:solidFill>
                <a:latin typeface="Segoe UI"/>
              </a:rPr>
              <a:t>giữa ML cổ điển, Stacking Ensemble và Deep Learning Transformer (ViSoBERT).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64058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57200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Khai thác insight </a:t>
            </a:r>
            <a:r>
              <a:rPr sz="1350" b="0">
                <a:solidFill>
                  <a:srgbClr val="F1F5F9"/>
                </a:solidFill>
                <a:latin typeface="Segoe UI"/>
              </a:rPr>
              <a:t>theo từng doanh nghiệp để hỗ trợ phòng Nhân sự &amp; Ban quản lý ra quyết định.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508760"/>
            <a:ext cx="539496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508760"/>
            <a:ext cx="539496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65506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Thách thức kỹ thuật cốt lõi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4808" y="2075688"/>
            <a:ext cx="73152" cy="713232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207568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Mất cân bằng nghiêm trọng 11:1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38658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73.8% Tích cực vs 6.8% Tiêu cực — mô hình dễ "lười" đoán về lớp đa số.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4808" y="2916936"/>
            <a:ext cx="73152" cy="713232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2916936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Teencode &amp; thuật ngữ IT Anh-Việt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322783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"ko", "cty", "OT", "leader", "benefit" xen lẫn trong cùng một câu.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4808" y="3758184"/>
            <a:ext cx="73152" cy="713232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3758184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Khen/chê đan xen trong 1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0690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Một đoạn văn vừa khen môi trường vừa chê lương — dễ gây nhiễu nhãn.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4808" y="4599432"/>
            <a:ext cx="73152" cy="713232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459943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Câu phủ định phức tạp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49103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"không được thân thiện", "ít cơ hội học hỏi" — phủ định đảo cực tính từ vựng.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Sơ đồ pipeline tổng thể End-to-End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03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" y="2697480"/>
            <a:ext cx="54864" cy="16916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1. Thu thập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8.417 review ITviec đa công ty, kèm rating &amp; khía cạnh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988820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2868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2868" y="2697480"/>
            <a:ext cx="54864" cy="1691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9172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2. Tiền xử lý 2 tầng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72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Chuẩn hoá, Negation Scope, tách từ tiếng Việt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45636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9684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9684" y="2697480"/>
            <a:ext cx="54864" cy="169164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5988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3. Trích xuất đặc trưng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5988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TF-IDF 5.000 chiều + Lexicon cảm xúc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02452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6500" y="2697480"/>
            <a:ext cx="54864" cy="169164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2804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4. Mô hình hoá ML/DL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2804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4 baseline · Stacking Ensemble · ViSoBERT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59268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43316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43316" y="2697480"/>
            <a:ext cx="54864" cy="169164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9620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5. Hybrid Decision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9620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Kết hợp xác suất ML + tri thức từ điển miền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816084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00132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00132" y="2697480"/>
            <a:ext cx="54864" cy="16916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46436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6. Web App &amp; XAI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6436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Streamlit demo, dự đoán realtime, giải thích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0ADBF"/>
                </a:solidFill>
                <a:latin typeface="Segoe UI"/>
              </a:rPr>
              <a:t>Toàn bộ pipeline được đóng gói dạng module tái sử dụng, kiểm chứng bằng 55 bài kiểm thử (test passed) — bảo đảm nhất quán giữa notebook nghiên cứu và ứng dụng Web.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Tách biệt Train/CV/Final-Test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Final test chỉ mở khoá đúng 1 lần, chống rò rỉ dữ liệu.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2 pipeline tiền xử lý song song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clean_advance_text (ML) vs clean_text_for_transformer (DL).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4152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38744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Song song 2 mô hình trên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8744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Segmented control chọn Text-only (5.000) hoặc Text+Lexicon (5.005) chiều.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2 · TIỀN XỬ LÝ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Pipeline tiền xử lý 2 tầng &amp; Negation Scope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04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Hai pipeline tiền xử lý độc lập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0756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0E3A4"/>
                </a:solidFill>
                <a:latin typeface="Segoe UI"/>
              </a:rPr>
              <a:t>clean_advance_text()  →  dùng cho ML cổ điển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" y="2459736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4048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Chuẩn hoá Unicode NFC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" y="2770632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7157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Emoji → từ ngữ sắc thái</a:t>
            </a:r>
          </a:p>
        </p:txBody>
      </p:sp>
      <p:sp>
        <p:nvSpPr>
          <p:cNvPr id="22" name="Oval 21"/>
          <p:cNvSpPr/>
          <p:nvPr/>
        </p:nvSpPr>
        <p:spPr>
          <a:xfrm>
            <a:off x="722376" y="3081528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0266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Chuẩn hoá teencode &amp; thuật ngữ IT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" y="3392424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37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Tách từ (underthesea) + Greedy Matching 99.75%</a:t>
            </a:r>
          </a:p>
        </p:txBody>
      </p:sp>
      <p:sp>
        <p:nvSpPr>
          <p:cNvPr id="26" name="Oval 25"/>
          <p:cNvSpPr/>
          <p:nvPr/>
        </p:nvSpPr>
        <p:spPr>
          <a:xfrm>
            <a:off x="722376" y="3703320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6484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Loại stopword (giữ từ phủ định: chưa, thiếu, ít)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" y="4123944"/>
            <a:ext cx="5074920" cy="127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2885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A7FF"/>
                </a:solidFill>
                <a:latin typeface="Segoe UI"/>
              </a:rPr>
              <a:t>clean_text_for_transformer()  →  dùng cho ViSoBERT</a:t>
            </a:r>
          </a:p>
        </p:txBody>
      </p:sp>
      <p:sp>
        <p:nvSpPr>
          <p:cNvPr id="30" name="Oval 29"/>
          <p:cNvSpPr/>
          <p:nvPr/>
        </p:nvSpPr>
        <p:spPr>
          <a:xfrm>
            <a:off x="722376" y="4672584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6177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Chỉ chuẩn hoá Unicode &amp; khoảng trắng</a:t>
            </a:r>
          </a:p>
        </p:txBody>
      </p:sp>
      <p:sp>
        <p:nvSpPr>
          <p:cNvPr id="32" name="Oval 31"/>
          <p:cNvSpPr/>
          <p:nvPr/>
        </p:nvSpPr>
        <p:spPr>
          <a:xfrm>
            <a:off x="722376" y="4983480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9286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Giữ nguyên cấu trúc câu, dấu câu, ngữ cảnh</a:t>
            </a:r>
          </a:p>
        </p:txBody>
      </p:sp>
      <p:sp>
        <p:nvSpPr>
          <p:cNvPr id="34" name="Oval 33"/>
          <p:cNvSpPr/>
          <p:nvPr/>
        </p:nvSpPr>
        <p:spPr>
          <a:xfrm>
            <a:off x="722376" y="5294376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23951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Không tách từ / không lọc stopword — để tokenizer BPE tự xử lý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1508760"/>
            <a:ext cx="548640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Negation Scope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07568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0ADBF"/>
                </a:solidFill>
                <a:latin typeface="Segoe UI"/>
              </a:rPr>
              <a:t>Thuật toán quét cửa sổ phủ định (không, chưa, chẳng...) và đảo cực tính các từ cảm xúc nằm trong phạm vi ảnh hưởng.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2761488"/>
            <a:ext cx="5074920" cy="141732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2889504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688"/>
                </a:solidFill>
                <a:latin typeface="Segoe UI"/>
              </a:rPr>
              <a:t>VÍ DỤ THỰC TẾ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316382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DBF"/>
                </a:solidFill>
                <a:latin typeface="Segoe UI"/>
              </a:rPr>
              <a:t>“... môi trường làm việc </a:t>
            </a:r>
            <a:r>
              <a:rPr sz="1300" b="1">
                <a:solidFill>
                  <a:srgbClr val="FF6677"/>
                </a:solidFill>
                <a:latin typeface="Segoe UI"/>
              </a:rPr>
              <a:t>không được </a:t>
            </a:r>
            <a:r>
              <a:rPr sz="1300" b="0">
                <a:solidFill>
                  <a:srgbClr val="A0ADBF"/>
                </a:solidFill>
                <a:latin typeface="Segoe UI"/>
              </a:rPr>
              <a:t>thân thiện ...”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6248" y="3602736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0ADBF"/>
                </a:solidFill>
                <a:latin typeface="Segoe UI"/>
              </a:rPr>
              <a:t>“thân thiện” (tích cực)  </a:t>
            </a:r>
            <a:r>
              <a:rPr sz="1200" b="0">
                <a:solidFill>
                  <a:srgbClr val="6B7688"/>
                </a:solidFill>
                <a:latin typeface="Segoe UI"/>
              </a:rPr>
              <a:t>→ trong cửa sổ phủ định →  </a:t>
            </a:r>
            <a:r>
              <a:rPr sz="1200" b="1">
                <a:solidFill>
                  <a:srgbClr val="FF6677"/>
                </a:solidFill>
                <a:latin typeface="Segoe UI"/>
              </a:rPr>
              <a:t>cực tính đảo ngược (tiêu cực)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4361688"/>
            <a:ext cx="73152" cy="45720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6248" y="43616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Không có Negation 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6248" y="4608576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Nhận diện sai → gán nhãn Tích cực/Trung tính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73368" y="4928616"/>
            <a:ext cx="73152" cy="45720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492861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Có Negation Scope + Hybrid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5175504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Nhận diện đúng → Tiêu cực (71.1%)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2 · KHÁM PHÁ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EDA — 8.417 review ITviec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05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da_sentim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618309"/>
            <a:ext cx="3355848" cy="18499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5449824"/>
            <a:ext cx="33558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Phân bố nhãn: 73.8% Tích cực · 19.5% Trung tính · 6.8% Tiêu cực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da_text_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916906"/>
            <a:ext cx="3355848" cy="12527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07408" y="5449824"/>
            <a:ext cx="33558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Phân bố độ dài văn bản đánh giá theo nhãn cảm xúc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da_aspect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083030"/>
            <a:ext cx="3355848" cy="29205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83880" y="5449824"/>
            <a:ext cx="33558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Tương quan giữa các khía cạnh đánh giá (Lương, Đào tạo, Quản lý...)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THÍ NGHIỆM ĐỐI CHỨNG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Feature Ablation Study — Text vs. Text + Lexicon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06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492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da_feature_ablation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78358"/>
            <a:ext cx="6236208" cy="3529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5449824"/>
            <a:ext cx="62362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So sánh 5-fold Stratified CV Macro F1 giữa các nhóm đặc trưng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508760"/>
            <a:ext cx="2203704" cy="105156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81912"/>
            <a:ext cx="1929384" cy="301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0E3A4"/>
                </a:solidFill>
                <a:latin typeface="Segoe UI"/>
              </a:rPr>
              <a:t>0.5579 → 0.5664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20113"/>
            <a:ext cx="1929384" cy="585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CV Macro F1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Text-only → Text+Lexicon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6336" y="1508760"/>
            <a:ext cx="2203704" cy="105156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83496" y="1581912"/>
            <a:ext cx="1929384" cy="3333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994F"/>
                </a:solidFill>
                <a:latin typeface="Segoe UI"/>
              </a:rPr>
              <a:t>45.6% → 48.0%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1951863"/>
            <a:ext cx="1929384" cy="5535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Tiêu cực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743200"/>
            <a:ext cx="4572000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8803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A7FF"/>
                </a:solidFill>
                <a:latin typeface="Segoe UI"/>
              </a:rPr>
              <a:t>5.005 CHIỀU ĐẶC TRƯNG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172968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TF-IDF (5.000 chiều n-gram 1-2) song song với 5 đặc trưng Lexicon cảm xúc domain IT, chuẩn hoá MinMaxScaler — cải thiện ổn định trên cả Macro F1 và Recall lớp thiểu số.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572000"/>
            <a:ext cx="4572000" cy="1280160"/>
          </a:xfrm>
          <a:prstGeom prst="rect">
            <a:avLst/>
          </a:prstGeom>
          <a:solidFill>
            <a:srgbClr val="11161F"/>
          </a:solidFill>
          <a:ln w="12700">
            <a:solidFill>
              <a:srgbClr val="FF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47091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FF6677"/>
                </a:solidFill>
                <a:latin typeface="Segoe UI"/>
              </a:rPr>
              <a:t>⚠ VÌ SAO LOẠI BỎ ASPECT RATINGS?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001768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Dù Text+Aspect đạt Macro F1 0.7433, đặc trưng này gần trùng nhãn mục tiêu → rủi ro Data Shortcut, không phản ánh khả năng hiểu ngôn ngữ thật của mô hình.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MÔ HÌNH HOÁ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4 Mô hình ML cơ sở &amp; Kỹ thuật Stacking Ensemble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07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1206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1206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mô hình nền tảng (class_weight='balanced')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130552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2130552"/>
            <a:ext cx="64008" cy="713232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2402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Logistic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53288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24028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0.5567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2990088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" y="2990088"/>
            <a:ext cx="64008" cy="713232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9981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Linear SVM (Platt scaling)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9242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099816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0.5561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" y="3849624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" y="3849624"/>
            <a:ext cx="64008" cy="713232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593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959352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4D35E"/>
                </a:solidFill>
                <a:latin typeface="Segoe UI"/>
              </a:rPr>
              <a:t>0.5515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" y="4709160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" y="4709160"/>
            <a:ext cx="64008" cy="713232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1888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Multinomial Naive Bayes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1149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818888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994F"/>
                </a:solidFill>
                <a:latin typeface="Segoe UI"/>
              </a:rPr>
              <a:t>0.4890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Stacking Ensemble Classifier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210312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Kết hợp 3 base estimator tốt nhất (NB + LR + SVM); meta-classifier Logistic Regression tổng hợp dự đoán (StackingClassifier, cv=5).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Naive Bayes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8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Logistic Regression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836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Linear SVM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38060" y="3429000"/>
            <a:ext cx="155448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892540" y="3429000"/>
            <a:ext cx="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892540" y="3429000"/>
            <a:ext cx="155448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703820" y="3657600"/>
            <a:ext cx="2377440" cy="548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03820" y="373075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80B10"/>
                </a:solidFill>
                <a:latin typeface="Segoe UI"/>
              </a:rPr>
              <a:t>Meta: Logistic Regression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4526280"/>
            <a:ext cx="2377440" cy="914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4599432"/>
            <a:ext cx="210312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0E3A4"/>
                </a:solidFill>
                <a:latin typeface="Segoe UI"/>
              </a:rPr>
              <a:t>0.5619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017008"/>
            <a:ext cx="2103120" cy="36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CV Macro F1 — tốt nhất trong 5 mô hình ML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4526280"/>
            <a:ext cx="2377440" cy="914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4599432"/>
            <a:ext cx="210312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AA7FF"/>
                </a:solidFill>
                <a:latin typeface="Segoe UI"/>
              </a:rPr>
              <a:t>0.7766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5017008"/>
            <a:ext cx="2103120" cy="36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trên Final Test khoá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Thử nghiệm ViSoBERT (Transformer) trên GPU Runpod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08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21208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212080" cy="4572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Kết quả Zero-shot trên Final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103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176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994F"/>
                </a:solidFill>
                <a:latin typeface="Segoe UI"/>
              </a:rPr>
              <a:t>0.4036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593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Macro F1 (ViSoBERT)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103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176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AA7FF"/>
                </a:solidFill>
                <a:latin typeface="Segoe UI"/>
              </a:rPr>
              <a:t>65.36%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593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tổng thể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" y="3246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319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0E3A4"/>
                </a:solidFill>
                <a:latin typeface="Segoe UI"/>
              </a:rPr>
              <a:t>75.44%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736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Tiêu cực (vượt Stacking)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246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319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6677"/>
                </a:solidFill>
                <a:latin typeface="Segoe UI"/>
              </a:rPr>
              <a:t>4.88%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36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Trung tính (gần như không nhận ra)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43484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So với Stacking (Acc 0.7766, Macro F1 0.5475): ViSoBERT zero-shot yếu hơn tổng thể nhưng vượt trội ở khả năng phát hiện Tiêu cực — đánh đổi bằng việc bỏ sót gần hết lớp Trung tính.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Vì sao Tiền xử lý cổ điển "xung đột" với Transformer?</a:t>
            </a:r>
          </a:p>
        </p:txBody>
      </p:sp>
      <p:sp>
        <p:nvSpPr>
          <p:cNvPr id="33" name="Oval 32"/>
          <p:cNvSpPr/>
          <p:nvPr/>
        </p:nvSpPr>
        <p:spPr>
          <a:xfrm>
            <a:off x="6528816" y="215798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210312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Over-cleaning: </a:t>
            </a:r>
            <a:r>
              <a:rPr sz="1200" b="0">
                <a:solidFill>
                  <a:srgbClr val="A0ADBF"/>
                </a:solidFill>
                <a:latin typeface="Segoe UI"/>
              </a:rPr>
              <a:t>loại stopword/tách từ làm mất ngữ cảnh câu mà Self-Attention cần để học quan hệ giữa các từ.</a:t>
            </a:r>
          </a:p>
        </p:txBody>
      </p:sp>
      <p:sp>
        <p:nvSpPr>
          <p:cNvPr id="35" name="Oval 34"/>
          <p:cNvSpPr/>
          <p:nvPr/>
        </p:nvSpPr>
        <p:spPr>
          <a:xfrm>
            <a:off x="6528816" y="3054096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11696" y="29992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Tokenizer BPE riêng biệt: </a:t>
            </a:r>
            <a:r>
              <a:rPr sz="1200" b="0">
                <a:solidFill>
                  <a:srgbClr val="A0ADBF"/>
                </a:solidFill>
                <a:latin typeface="Segoe UI"/>
              </a:rPr>
              <a:t>ViSoBERT đã có subword tokenizer huấn luyện trên dữ liệu mạng xã hội — tiền xử lý thêm gây méo phân phối token.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3950208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3895344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Zero-shot, chưa fine-tune: </a:t>
            </a:r>
            <a:r>
              <a:rPr sz="1200" b="0">
                <a:solidFill>
                  <a:srgbClr val="A0ADBF"/>
                </a:solidFill>
                <a:latin typeface="Segoe UI"/>
              </a:rPr>
              <a:t>mô hình chưa được huấn luyện lại trên domain review IT nên chưa tối ưu cho bài toán 3 lớp.</a:t>
            </a:r>
          </a:p>
        </p:txBody>
      </p:sp>
      <p:sp>
        <p:nvSpPr>
          <p:cNvPr id="39" name="Oval 38"/>
          <p:cNvSpPr/>
          <p:nvPr/>
        </p:nvSpPr>
        <p:spPr>
          <a:xfrm>
            <a:off x="6528816" y="4846320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1696" y="479145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Hạ tầng GPU Runpod: </a:t>
            </a:r>
            <a:r>
              <a:rPr sz="1200" b="0">
                <a:solidFill>
                  <a:srgbClr val="A0ADBF"/>
                </a:solidFill>
                <a:latin typeface="Segoe UI"/>
              </a:rPr>
              <a:t>phù hợp huấn luyện DL nhưng công đoạn fine-tune đầy đủ nằm ở hướng phát triển tiếp theo.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4 · KẾT QUẢ THỰC NGHIỆM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Bảng Leaderboard tổng hợp &amp; Ma trận nhầm lẫn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09 / 15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508760"/>
          <a:ext cx="5943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Mô hình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CV Macro F1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Final Test F1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Stacking (NB+LR+SVM)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0.5619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0.5475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0.5567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Linear SVM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0.5561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0.5515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ViSoBERT (zero-shot DL)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0.4036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Multinomial Naive Bayes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0.4890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450799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Final Test chỉ được mở khoá 1 lần cho mô hình đã chọn (Stacking) và benchmark ViSoBERT — tránh rò rỉ dữ liệu.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92040"/>
            <a:ext cx="5943600" cy="914400"/>
          </a:xfrm>
          <a:prstGeom prst="rect">
            <a:avLst/>
          </a:prstGeom>
          <a:solidFill>
            <a:srgbClr val="11161F"/>
          </a:solidFill>
          <a:ln w="12700">
            <a:solidFill>
              <a:srgbClr val="FF9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00176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994F"/>
                </a:solidFill>
                <a:latin typeface="Segoe UI"/>
              </a:rPr>
              <a:t>⚠ BẪY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7608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77.66% có vẻ cao, nhưng Macro F1 chỉ 0.5475 — do mô hình nghiêng mạnh về lớp Positive đa số (1.241/1.683 mẫu).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08760"/>
            <a:ext cx="5029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est_mode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892" y="1636776"/>
            <a:ext cx="4575657" cy="3813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03136" y="5449824"/>
            <a:ext cx="47731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Confusion Matrix — Stacking Classifier trên Final Test (1.683 mẫu)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4 · PHÂN TÍCH LỖI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Phân tích lỗi sai định tính &amp; Hybrid Decision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10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Case study: câu phủ định phức tạp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075688"/>
            <a:ext cx="5074920" cy="105156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203704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1F5F9"/>
                </a:solidFill>
                <a:latin typeface="Segoe UI"/>
              </a:rPr>
              <a:t>“Môi trường làm việc không được thân thiện, đồng nghiệp không hỗ trợ và ít cơ hội học hỏi.”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3310128"/>
            <a:ext cx="73152" cy="5029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3101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Không có Hybrid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57530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Dự đoán sai → Trung tính / Tích cực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3950208"/>
            <a:ext cx="73152" cy="5029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95020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Có Hybrid Decision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1538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Tiêu cực (71.1%) — phát hiện 3 cụm phủ định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68172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Các lỗi khác thường gặp: câu châm biếm, khen/chê đan xen trong cùng review, đánh giá Trung tính mập mờ giữa 2 cực.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08760"/>
            <a:ext cx="5257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508760"/>
            <a:ext cx="525780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65506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Cơ chế Hybrid Decision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2057400"/>
            <a:ext cx="4846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egative_threshold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992" y="2185416"/>
            <a:ext cx="2948272" cy="1801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29984" y="3986784"/>
            <a:ext cx="45902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Độ nhạy ngưỡng xác suất P(Negative) trên Recall/Precision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5720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Nếu P(Tiêu cực) ≥ 0.30 theo mô hình ML → ưu tiên gán nhãn Tiêu cực, kết hợp tri thức từ điển miền IT (negation, từ khoá nhạy cảm) để hiệu chỉnh các trường hợp mô hình còn lưỡng lự.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1968" y="5440680"/>
            <a:ext cx="2331720" cy="6858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5513832"/>
            <a:ext cx="20574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26.3%→35.1%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5867908"/>
            <a:ext cx="2057400" cy="203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Recall Negative khi áp ngưỡng 0.30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5440680"/>
            <a:ext cx="2331720" cy="6858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5513832"/>
            <a:ext cx="20574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+0.0032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867908"/>
            <a:ext cx="2057400" cy="203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Macro F1 cải thiện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INSIGHT DOANH NGHIỆP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Khám phá Insight cảm xúc ngành Công nghệ Thông tin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11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cloud_positiv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78508"/>
            <a:ext cx="2487168" cy="1243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3163824"/>
            <a:ext cx="24871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WordCloud — Tích cực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ordcloud_negative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973068"/>
            <a:ext cx="2487168" cy="12435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6" y="5358384"/>
            <a:ext cx="24871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WordCloud — Tiêu cực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50876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mpany_fpt_software_sentimen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424" y="1636776"/>
            <a:ext cx="2745671" cy="1527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57016" y="3163824"/>
            <a:ext cx="39044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Phân bố cảm xúc — FPT Software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70332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mpany_nashtech_sentiment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424" y="3831336"/>
            <a:ext cx="2745671" cy="1527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57016" y="5358384"/>
            <a:ext cx="39044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Phân bố cảm xúc — NashTech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508760"/>
            <a:ext cx="3977639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508760"/>
            <a:ext cx="3977639" cy="4572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1655064"/>
            <a:ext cx="3611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Chủ đề nổi bật theo sắc thái</a:t>
            </a:r>
          </a:p>
        </p:txBody>
      </p:sp>
      <p:sp>
        <p:nvSpPr>
          <p:cNvPr id="29" name="Oval 28"/>
          <p:cNvSpPr/>
          <p:nvPr/>
        </p:nvSpPr>
        <p:spPr>
          <a:xfrm>
            <a:off x="7991856" y="2157984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210312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Được khen nhiều nhất: </a:t>
            </a:r>
            <a:r>
              <a:rPr sz="1200" b="0">
                <a:solidFill>
                  <a:srgbClr val="A0ADBF"/>
                </a:solidFill>
                <a:latin typeface="Segoe UI"/>
              </a:rPr>
              <a:t>môi trường trẻ, đồng nghiệp thân thiện, công nghệ mới, lộ trình rõ ràng.</a:t>
            </a:r>
          </a:p>
        </p:txBody>
      </p:sp>
      <p:sp>
        <p:nvSpPr>
          <p:cNvPr id="31" name="Oval 30"/>
          <p:cNvSpPr/>
          <p:nvPr/>
        </p:nvSpPr>
        <p:spPr>
          <a:xfrm>
            <a:off x="7991856" y="320954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315468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Bị phàn nàn nhiều nhất: </a:t>
            </a:r>
            <a:r>
              <a:rPr sz="1200" b="0">
                <a:solidFill>
                  <a:srgbClr val="A0ADBF"/>
                </a:solidFill>
                <a:latin typeface="Segoe UI"/>
              </a:rPr>
              <a:t>chế độ OT, tốc độ tăng lương, quy trình quản lý cứng nhắc.</a:t>
            </a:r>
          </a:p>
        </p:txBody>
      </p:sp>
      <p:sp>
        <p:nvSpPr>
          <p:cNvPr id="33" name="Oval 32"/>
          <p:cNvSpPr/>
          <p:nvPr/>
        </p:nvSpPr>
        <p:spPr>
          <a:xfrm>
            <a:off x="7991856" y="4261104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420624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So sánh giữa doanh nghiệp: </a:t>
            </a:r>
            <a:r>
              <a:rPr sz="1200" b="0">
                <a:solidFill>
                  <a:srgbClr val="A0ADBF"/>
                </a:solidFill>
                <a:latin typeface="Segoe UI"/>
              </a:rPr>
              <a:t>FPT Software và NashTech có tỷ lệ hài lòng khác biệt rõ theo từng khía cạnh.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TRIỂN KHAI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Ứng dụng Web Demo — Streamlit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12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949440" cy="4343400"/>
          </a:xfrm>
          <a:prstGeom prst="rect">
            <a:avLst/>
          </a:prstGeom>
          <a:solidFill>
            <a:srgbClr val="0C1119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Tổng quan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Insight doanh nghiệp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618488"/>
            <a:ext cx="1645920" cy="457200"/>
          </a:xfrm>
          <a:prstGeom prst="rect">
            <a:avLst/>
          </a:prstGeom>
          <a:solidFill>
            <a:srgbClr val="11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2020824"/>
            <a:ext cx="1645920" cy="2794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Phân tích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Mô hình &amp; đánh giá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286000"/>
            <a:ext cx="6400800" cy="86868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377440"/>
            <a:ext cx="6035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Segoe UI"/>
              </a:rPr>
              <a:t>NHẬP REVIEW CẦN PHÂN TÍCH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63347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“Môi trường làm việc không được thân thiện, đồng nghiệp không hỗ trợ...”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337560"/>
            <a:ext cx="6400800" cy="1051560"/>
          </a:xfrm>
          <a:prstGeom prst="rect">
            <a:avLst/>
          </a:prstGeom>
          <a:solidFill>
            <a:srgbClr val="11161F"/>
          </a:solidFill>
          <a:ln w="12700">
            <a:solidFill>
              <a:srgbClr val="FF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4472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Segoe UI"/>
              </a:rPr>
              <a:t>KẾT QUẢ DỰ ĐOÁN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72160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6677"/>
                </a:solidFill>
                <a:latin typeface="Segoe UI"/>
              </a:rPr>
              <a:t>TIÊU CỰC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447288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71.1%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08736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độ tin cậy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526280"/>
            <a:ext cx="6400800" cy="502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4581144"/>
            <a:ext cx="3154680" cy="393192"/>
          </a:xfrm>
          <a:prstGeom prst="rect">
            <a:avLst/>
          </a:prstGeom>
          <a:solidFill>
            <a:srgbClr val="11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64515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Text-only · 5.000 chiều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7640" y="4581144"/>
            <a:ext cx="3154680" cy="393192"/>
          </a:xfrm>
          <a:prstGeom prst="rect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40" y="464515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Text + Lexicon · 5.005 chiều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1508760"/>
            <a:ext cx="4114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1508760"/>
            <a:ext cx="41148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1655064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trang chức năng trên ứng dụng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2075688"/>
            <a:ext cx="73152" cy="7772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20756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Tổng quan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23500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Giới thiệu pipeline, KPI dữ liệu &amp; phân bố cảm xúc toàn hệ thống.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82128" y="2990088"/>
            <a:ext cx="73152" cy="7772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29900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Insight doanh nghiệp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32644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WordCloud &amp; thống kê cảm xúc theo từng công ty IT.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3904488"/>
            <a:ext cx="73152" cy="77724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39044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Phân tích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41788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Nhập review, chọn mô hình, xem kết quả kèm giải thích XAI &amp; hiệu chỉnh.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82128" y="4818888"/>
            <a:ext cx="73152" cy="77724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5008" y="48188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Mô hình &amp; đánh giá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50932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Leaderboard 5 mô hình, ma trận nhầm lẫn &amp; phân tích độ nhạy ngưỡng 30%.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EXPLAINABLE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Kiến trúc XAI thời gian thực — Giải thích quyết định mô hình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13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Feature Importance — trọng số TF-IDF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10312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không hỗ trợ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8568" y="2121408"/>
            <a:ext cx="2103120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208483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52374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không thân thiện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2455" y="2542032"/>
            <a:ext cx="1949233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505456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9443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ít cơ hội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4116" y="2962656"/>
            <a:ext cx="1487572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29260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364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học hỏi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383280"/>
            <a:ext cx="564251" cy="219456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3346704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+0.22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78561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đồng nghiệp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1688" y="3803904"/>
            <a:ext cx="307773" cy="219456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3792" y="37673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+0.12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2103120"/>
            <a:ext cx="15240" cy="210312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3434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Mỗi thanh thể hiện trọng số TF-IDF nổi bật của từ/cụm từ trong đầu vào — âm (đỏ) nghiêng về Tiêu cực, dương (xanh) nghiêng về Tích cực (chưa triển khai SHAP/LIME).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Vì sao cần XAI trong bài toán này?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2157984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210312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Minh bạch quyết định: </a:t>
            </a:r>
            <a:r>
              <a:rPr sz="1200" b="0">
                <a:solidFill>
                  <a:srgbClr val="A0ADBF"/>
                </a:solidFill>
                <a:latin typeface="Segoe UI"/>
              </a:rPr>
              <a:t>người dùng (ứng viên, HR) hiểu vì sao một review bị gán Tiêu cực/Tích cực.</a:t>
            </a:r>
          </a:p>
        </p:txBody>
      </p:sp>
      <p:sp>
        <p:nvSpPr>
          <p:cNvPr id="39" name="Oval 38"/>
          <p:cNvSpPr/>
          <p:nvPr/>
        </p:nvSpPr>
        <p:spPr>
          <a:xfrm>
            <a:off x="6528816" y="3054096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1696" y="29992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Bóc tách 3 cụm từ phủ định: </a:t>
            </a:r>
            <a:r>
              <a:rPr sz="1200" b="0">
                <a:solidFill>
                  <a:srgbClr val="A0ADBF"/>
                </a:solidFill>
                <a:latin typeface="Segoe UI"/>
              </a:rPr>
              <a:t>hiển thị trực tiếp trên UI mỗi lần dự đoán realtime.</a:t>
            </a:r>
          </a:p>
        </p:txBody>
      </p:sp>
      <p:sp>
        <p:nvSpPr>
          <p:cNvPr id="41" name="Oval 40"/>
          <p:cNvSpPr/>
          <p:nvPr/>
        </p:nvSpPr>
        <p:spPr>
          <a:xfrm>
            <a:off x="6528816" y="3950208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11696" y="3895344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Kiểm chứng Negation Scope: </a:t>
            </a:r>
            <a:r>
              <a:rPr sz="1200" b="0">
                <a:solidFill>
                  <a:srgbClr val="A0ADBF"/>
                </a:solidFill>
                <a:latin typeface="Segoe UI"/>
              </a:rPr>
              <a:t>XAI cho thấy rõ cụm phủ định đã đảo cực tính đúng theo kỳ vọng.</a:t>
            </a:r>
          </a:p>
        </p:txBody>
      </p:sp>
      <p:sp>
        <p:nvSpPr>
          <p:cNvPr id="43" name="Oval 42"/>
          <p:cNvSpPr/>
          <p:nvPr/>
        </p:nvSpPr>
        <p:spPr>
          <a:xfrm>
            <a:off x="6528816" y="4846320"/>
            <a:ext cx="82296" cy="82296"/>
          </a:xfrm>
          <a:prstGeom prst="ellipse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11696" y="479145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Hỗ trợ debug mô hình: </a:t>
            </a:r>
            <a:r>
              <a:rPr sz="1200" b="0">
                <a:solidFill>
                  <a:srgbClr val="A0ADBF"/>
                </a:solidFill>
                <a:latin typeface="Segoe UI"/>
              </a:rPr>
              <a:t>phát hiện các từ khoá gây nhiễu, phục vụ cải tiến pipeline sau này.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6 · TỔNG KẾT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Đánh giá thực nghiệm, Bài học kinh nghiệm &amp; Hạn chế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14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3639312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THÀNH TỰU ĐẠT ĐƯỢC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2171700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Pipeline tiền xử lý tiếng Việt chuyên sâu, Negation Scope Detection, Greedy Matching 99.75%.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" y="3140964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07238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Stacking Ensemble đạt CV Macro F1 0.5619, benchmark chéo với ViSoBERT trên GPU.</a:t>
            </a:r>
          </a:p>
        </p:txBody>
      </p:sp>
      <p:sp>
        <p:nvSpPr>
          <p:cNvPr id="21" name="Oval 20"/>
          <p:cNvSpPr/>
          <p:nvPr/>
        </p:nvSpPr>
        <p:spPr>
          <a:xfrm>
            <a:off x="704088" y="3835908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76732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Ablation Study khoa học: Text+Lexicon vượt Text-only, có kiểm soát Data Shortcut.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" y="4805172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736592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Web App Streamlit realtime tích hợp XAI, 55 bài kiểm thử passed.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1508760"/>
            <a:ext cx="3639312" cy="4572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BÀI HỌC KINH NGHIỆM</a:t>
            </a:r>
          </a:p>
        </p:txBody>
      </p:sp>
      <p:sp>
        <p:nvSpPr>
          <p:cNvPr id="28" name="Oval 27"/>
          <p:cNvSpPr/>
          <p:nvPr/>
        </p:nvSpPr>
        <p:spPr>
          <a:xfrm>
            <a:off x="4480560" y="2171700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Mất cân bằng dữ liệu cần xử lý ở cả tầng đặc trưng và tầng đánh giá (Macro F1, không chỉ Accuracy).</a:t>
            </a:r>
          </a:p>
        </p:txBody>
      </p:sp>
      <p:sp>
        <p:nvSpPr>
          <p:cNvPr id="30" name="Oval 29"/>
          <p:cNvSpPr/>
          <p:nvPr/>
        </p:nvSpPr>
        <p:spPr>
          <a:xfrm>
            <a:off x="4480560" y="3140964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307238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Tiền xử lý cho ML cổ điển và cho Transformer cần thiết kế khác nhau, không dùng chung 1 pipeline.</a:t>
            </a:r>
          </a:p>
        </p:txBody>
      </p:sp>
      <p:sp>
        <p:nvSpPr>
          <p:cNvPr id="32" name="Oval 31"/>
          <p:cNvSpPr/>
          <p:nvPr/>
        </p:nvSpPr>
        <p:spPr>
          <a:xfrm>
            <a:off x="4480560" y="4110228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04164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Final Test chỉ nên mở khoá 1 lần — kỷ luật này giúp kết quả đáng tin cậy hơn.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5864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55864" y="1508760"/>
            <a:ext cx="3639312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HẠN CHẾ HIỆN TẠI</a:t>
            </a:r>
          </a:p>
        </p:txBody>
      </p:sp>
      <p:sp>
        <p:nvSpPr>
          <p:cNvPr id="37" name="Oval 36"/>
          <p:cNvSpPr/>
          <p:nvPr/>
        </p:nvSpPr>
        <p:spPr>
          <a:xfrm>
            <a:off x="8257032" y="2171700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6488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Recall lớp Tiêu cực còn thấp (26–35%) do dữ liệu thiểu số nghiêm trọng (6.8%).</a:t>
            </a:r>
          </a:p>
        </p:txBody>
      </p:sp>
      <p:sp>
        <p:nvSpPr>
          <p:cNvPr id="39" name="Oval 38"/>
          <p:cNvSpPr/>
          <p:nvPr/>
        </p:nvSpPr>
        <p:spPr>
          <a:xfrm>
            <a:off x="8257032" y="286664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8" y="279806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ViSoBERT mới ở zero-shot, chưa fine-tune đầy đủ trên domain review IT.</a:t>
            </a:r>
          </a:p>
        </p:txBody>
      </p:sp>
      <p:sp>
        <p:nvSpPr>
          <p:cNvPr id="41" name="Oval 40"/>
          <p:cNvSpPr/>
          <p:nvPr/>
        </p:nvSpPr>
        <p:spPr>
          <a:xfrm>
            <a:off x="8257032" y="3561588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6488" y="349300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Chưa phân tích cảm xúc ở mức khía cạnh chi tiết (Aspect-Based).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6 · KẾT LUẬN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Hướng phát triển tương lai &amp; Lời cảm 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15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400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64008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Hướng phát triển tương lai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2157984"/>
            <a:ext cx="91440" cy="91440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10312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Aspect-Based Sentiment Analysis (ABSA)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Phân tích cảm xúc chi tiết theo từng khía cạnh (Lương, OT, Quản lý...) thay vì chỉ cảm xúc tổng thể.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" y="3090672"/>
            <a:ext cx="91440" cy="91440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03580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Fine-tuning toàn phần ViSoBERT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Huấn luyện lại trên domain review IT tiếng Việt để khai thác tối đa năng lực Transformer.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" y="4023360"/>
            <a:ext cx="91440" cy="91440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968496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Ứng dụng LLM Agent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Tự động tổng hợp báo cáo insight nhân sự theo thời gian thực cho từng doanh nghiệp.</a:t>
            </a:r>
          </a:p>
        </p:txBody>
      </p:sp>
      <p:sp>
        <p:nvSpPr>
          <p:cNvPr id="23" name="Oval 22"/>
          <p:cNvSpPr/>
          <p:nvPr/>
        </p:nvSpPr>
        <p:spPr>
          <a:xfrm>
            <a:off x="722376" y="4956048"/>
            <a:ext cx="91440" cy="91440"/>
          </a:xfrm>
          <a:prstGeom prst="ellipse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901184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Mở rộng dữ liệu đa nguồn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Thu thập thêm review từ các nền tảng tuyển dụng khác để tăng độ bao phủ &amp; cân bằng lớp.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1508760"/>
            <a:ext cx="44348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1508760"/>
            <a:ext cx="4434840" cy="54864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1783080"/>
            <a:ext cx="502920" cy="502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1562" y="1893722"/>
            <a:ext cx="281635" cy="201168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31912" y="1974189"/>
            <a:ext cx="37719" cy="37719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12379" y="1974189"/>
            <a:ext cx="37719" cy="37719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92846" y="1974189"/>
            <a:ext cx="37719" cy="37719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46888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A7FF"/>
                </a:solidFill>
                <a:latin typeface="Segoe UI"/>
              </a:rPr>
              <a:t>LỜI CẢM 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880360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0ADBF"/>
                </a:solidFill>
                <a:latin typeface="Segoe UI"/>
              </a:rPr>
              <a:t>Nhóm 12 xin chân thành cảm ơn Thầy Đặng Văn Thìn và các bạn đã dành thời gian theo dõi phần trình bày của nhóm.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4114800"/>
            <a:ext cx="3886200" cy="127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29768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688"/>
                </a:solidFill>
                <a:latin typeface="Segoe UI"/>
              </a:rPr>
              <a:t>TIẾP THEO BƯỚC VÀO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636008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1F5F9"/>
                </a:solidFill>
                <a:latin typeface="Segoe UI"/>
              </a:rPr>
              <a:t>DEMO TRỰC TIẾP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30352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0E3A4"/>
                </a:solidFill>
                <a:latin typeface="Segoe UI"/>
              </a:rPr>
              <a:t>Phạm Thành Trung trình bày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